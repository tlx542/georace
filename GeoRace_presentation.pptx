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GeoRace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TLX542</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1 - Titre</a:t>
            </a:r>
          </a:p>
        </p:txBody>
      </p:sp>
      <p:sp>
        <p:nvSpPr>
          <p:cNvPr id="3" name="Content Placeholder 2"/>
          <p:cNvSpPr>
            <a:spLocks noGrp="1"/>
          </p:cNvSpPr>
          <p:nvPr>
            <p:ph idx="1"/>
          </p:nvPr>
        </p:nvSpPr>
        <p:spPr/>
        <p:txBody>
          <a:bodyPr/>
          <a:lstStyle/>
          <a:p>
            <a:pPr lvl="0" indent="0" marL="0">
              <a:buNone/>
            </a:pPr>
            <a:r>
              <a:rPr b="1"/>
              <a:t>GeoRace</a:t>
            </a:r>
          </a:p>
          <a:p>
            <a:pPr lvl="0" indent="0" marL="1270000">
              <a:buNone/>
            </a:pPr>
            <a:r>
              <a:rPr sz="2000"/>
              <a:t>L’application de course compétitive en temps réel</a:t>
            </a:r>
          </a:p>
          <a:p>
            <a:pPr lvl="0" indent="0" marL="0">
              <a:buNone/>
            </a:pPr>
            <a:r>
              <a:rPr b="1"/>
              <a:t>Sous‑titre :</a:t>
            </a:r>
            <a:r>
              <a:rPr/>
              <a:t> Le premier vrai duel de course instantané et équitable.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2 - Le problème des apps actuelles</a:t>
            </a:r>
          </a:p>
        </p:txBody>
      </p:sp>
      <p:sp>
        <p:nvSpPr>
          <p:cNvPr id="3" name="Content Placeholder 2"/>
          <p:cNvSpPr>
            <a:spLocks noGrp="1"/>
          </p:cNvSpPr>
          <p:nvPr>
            <p:ph idx="1"/>
          </p:nvPr>
        </p:nvSpPr>
        <p:spPr/>
        <p:txBody>
          <a:bodyPr/>
          <a:lstStyle/>
          <a:p>
            <a:pPr lvl="0" indent="0" marL="0">
              <a:buNone/>
            </a:pPr>
            <a:r>
              <a:rPr b="1"/>
              <a:t>Pourquoi les coureurs s’ennuient sur Strava, Nike Run Club et Runkeeper</a:t>
            </a:r>
          </a:p>
          <a:p>
            <a:pPr lvl="0" indent="0" marL="0">
              <a:buNone/>
            </a:pPr>
            <a:r>
              <a:rPr/>
              <a:t>❌ </a:t>
            </a:r>
            <a:r>
              <a:rPr b="1"/>
              <a:t>Compétition asynchrone</a:t>
            </a:r>
            <a:r>
              <a:rPr/>
              <a:t> : vous comparez vos temps à des performances passées ❌ </a:t>
            </a:r>
            <a:r>
              <a:rPr b="1"/>
              <a:t>Pas d’interaction réelle</a:t>
            </a:r>
            <a:r>
              <a:rPr/>
              <a:t> : vous êtes seul face à votre écran ❌ </a:t>
            </a:r>
            <a:r>
              <a:rPr b="1"/>
              <a:t>Segments fixes</a:t>
            </a:r>
            <a:r>
              <a:rPr/>
              <a:t> : toujours les mêmes parcours, aucune surprise ❌ </a:t>
            </a:r>
            <a:r>
              <a:rPr b="1"/>
              <a:t>Motivation en déclin</a:t>
            </a:r>
            <a:r>
              <a:rPr/>
              <a:t> : partager des stats ne crée pas d’excitation</a:t>
            </a:r>
          </a:p>
          <a:p>
            <a:pPr lvl="0" indent="0" marL="0">
              <a:buNone/>
            </a:pPr>
            <a:r>
              <a:rPr b="1"/>
              <a:t>Résultat :</a:t>
            </a:r>
            <a:r>
              <a:rPr/>
              <a:t> 60% des utilisateurs abandonnent après 3 mois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3 - Notre réponse : LE DUEL EN TEMPS RÉEL</a:t>
            </a:r>
          </a:p>
        </p:txBody>
      </p:sp>
      <p:sp>
        <p:nvSpPr>
          <p:cNvPr id="3" name="Content Placeholder 2"/>
          <p:cNvSpPr>
            <a:spLocks noGrp="1"/>
          </p:cNvSpPr>
          <p:nvPr>
            <p:ph idx="1"/>
          </p:nvPr>
        </p:nvSpPr>
        <p:spPr/>
        <p:txBody>
          <a:bodyPr/>
          <a:lstStyle/>
          <a:p>
            <a:pPr lvl="0" indent="0" marL="0">
              <a:buNone/>
            </a:pPr>
            <a:r>
              <a:rPr b="1"/>
              <a:t>GeoRace = La seule app qui crée de vraies courses spontanées</a:t>
            </a:r>
          </a:p>
          <a:p>
            <a:pPr lvl="0" indent="0" marL="0">
              <a:buNone/>
            </a:pPr>
            <a:r>
              <a:rPr/>
              <a:t>🎯 </a:t>
            </a:r>
            <a:r>
              <a:rPr b="1"/>
              <a:t>Détection instantanée</a:t>
            </a:r>
            <a:r>
              <a:rPr/>
              <a:t> : l’app repère les coureurs actifs près de vous ⚡ </a:t>
            </a:r>
            <a:r>
              <a:rPr b="1"/>
              <a:t>Défi immédiat</a:t>
            </a:r>
            <a:r>
              <a:rPr/>
              <a:t> : “Paul (ELO 1420) vous défie - Accepter?” 📍 </a:t>
            </a:r>
            <a:r>
              <a:rPr b="1"/>
              <a:t>Point équidistant</a:t>
            </a:r>
            <a:r>
              <a:rPr/>
              <a:t> : algorithme calcule un finish accessible à la même distance pour tous 🏁 </a:t>
            </a:r>
            <a:r>
              <a:rPr b="1"/>
              <a:t>Course en direct</a:t>
            </a:r>
            <a:r>
              <a:rPr/>
              <a:t> : départ synchronisé, positions live, arrivée simultanée</a:t>
            </a:r>
          </a:p>
          <a:p>
            <a:pPr lvl="0" indent="0" marL="0">
              <a:buNone/>
            </a:pPr>
            <a:r>
              <a:rPr b="1"/>
              <a:t>LA DIFFÉRENCE :</a:t>
            </a:r>
            <a:r>
              <a:rPr/>
              <a:t> Ce n’est plus du tracking, c’est une vraie compétition !</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4 - Pourquoi le duel change tout</a:t>
            </a:r>
          </a:p>
        </p:txBody>
      </p:sp>
      <p:sp>
        <p:nvSpPr>
          <p:cNvPr id="3" name="Content Placeholder 2"/>
          <p:cNvSpPr>
            <a:spLocks noGrp="1"/>
          </p:cNvSpPr>
          <p:nvPr>
            <p:ph idx="1"/>
          </p:nvPr>
        </p:nvSpPr>
        <p:spPr/>
        <p:txBody>
          <a:bodyPr/>
          <a:lstStyle/>
          <a:p>
            <a:pPr lvl="0" indent="0" marL="0">
              <a:buNone/>
            </a:pPr>
            <a:r>
              <a:rPr b="1"/>
              <a:t>L’adrénaline d’une vraie course, à chaque sortie</a:t>
            </a:r>
          </a:p>
          <a:p>
            <a:pPr lvl="0" indent="0" marL="0">
              <a:buNone/>
            </a:pPr>
            <a:r>
              <a:rPr b="1"/>
              <a:t>Ce que ressent l’utilisateur :</a:t>
            </a:r>
          </a:p>
          <a:p>
            <a:pPr lvl="0" indent="-342900" marL="342900">
              <a:buAutoNum type="arabicPeriod"/>
            </a:pPr>
            <a:r>
              <a:rPr b="1"/>
              <a:t>AVANT</a:t>
            </a:r>
            <a:r>
              <a:rPr/>
              <a:t> : “Je vais courir 30 minutes…” </a:t>
            </a:r>
            <a:r>
              <a:rPr b="1"/>
              <a:t>AVEC GEORACE</a:t>
            </a:r>
            <a:r>
              <a:rPr/>
              <a:t> : “Je vais AFFRONTER ce coureur que je vois au parc !”</a:t>
            </a:r>
          </a:p>
          <a:p>
            <a:pPr lvl="0" indent="-342900" marL="342900">
              <a:buAutoNum type="arabicPeriod"/>
            </a:pPr>
            <a:r>
              <a:rPr b="1"/>
              <a:t>PENDANT</a:t>
            </a:r>
            <a:r>
              <a:rPr/>
              <a:t> : “Je suis à 500m du but, je le dépasse ou pas ?” → GPS live, distance restante, position de l’adversaire</a:t>
            </a:r>
          </a:p>
          <a:p>
            <a:pPr lvl="0" indent="-342900" marL="342900">
              <a:buAutoNum type="arabicPeriod"/>
            </a:pPr>
            <a:r>
              <a:rPr b="1"/>
              <a:t>APRÈS</a:t>
            </a:r>
            <a:r>
              <a:rPr/>
              <a:t> : “+25 ELO, 1er sur 3 dans ma ville cette semaine !” → Gratification immédiate, envie de recommencer</a:t>
            </a:r>
          </a:p>
          <a:p>
            <a:pPr lvl="0" indent="0" marL="0">
              <a:buNone/>
            </a:pPr>
            <a:r>
              <a:rPr b="1"/>
              <a:t>Strava vous dit combien vous avez couru.</a:t>
            </a:r>
            <a:br/>
            <a:r>
              <a:rPr b="1"/>
              <a:t>GeoRace vous dit si vous avez GAGNÉ.</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5 - Le point équidistant : notre innovation technique</a:t>
            </a:r>
          </a:p>
        </p:txBody>
      </p:sp>
      <p:sp>
        <p:nvSpPr>
          <p:cNvPr id="3" name="Content Placeholder 2"/>
          <p:cNvSpPr>
            <a:spLocks noGrp="1"/>
          </p:cNvSpPr>
          <p:nvPr>
            <p:ph idx="1"/>
          </p:nvPr>
        </p:nvSpPr>
        <p:spPr/>
        <p:txBody>
          <a:bodyPr/>
          <a:lstStyle/>
          <a:p>
            <a:pPr lvl="0" indent="0" marL="0">
              <a:buNone/>
            </a:pPr>
            <a:r>
              <a:rPr b="1"/>
              <a:t>Pourquoi le mode duel est unique et comment il assure l’équité</a:t>
            </a:r>
          </a:p>
          <a:p>
            <a:pPr lvl="0" indent="0" marL="0">
              <a:buNone/>
            </a:pPr>
            <a:r>
              <a:rPr b="1"/>
              <a:t>Le problème des courses spontanées :</a:t>
            </a:r>
            <a:r>
              <a:rPr/>
              <a:t> - Si on court vers le même point → celui qui est plus proche gagne toujours - Si on court chacun son parcours → impossible de comparer équitablement</a:t>
            </a:r>
          </a:p>
          <a:p>
            <a:pPr lvl="0" indent="0" marL="0">
              <a:buNone/>
            </a:pPr>
            <a:r>
              <a:rPr b="1"/>
              <a:t>Notre solution brevetable :</a:t>
            </a:r>
          </a:p>
          <a:p>
            <a:pPr lvl="0" indent="-342900" marL="342900">
              <a:buAutoNum type="arabicPeriod"/>
            </a:pPr>
            <a:r>
              <a:rPr b="1"/>
              <a:t>Algorithme de géolocalisation</a:t>
            </a:r>
            <a:r>
              <a:rPr/>
              <a:t> : calcule un point accessible à distance ÉGALE pour tous</a:t>
            </a:r>
          </a:p>
          <a:p>
            <a:pPr lvl="0" indent="-342900" marL="342900">
              <a:buAutoNum type="arabicPeriod"/>
            </a:pPr>
            <a:r>
              <a:rPr b="1"/>
              <a:t>Prise en compte du terrain</a:t>
            </a:r>
            <a:r>
              <a:rPr/>
              <a:t> : routes, chemins, zones interdites</a:t>
            </a:r>
          </a:p>
          <a:p>
            <a:pPr lvl="0" indent="-342900" marL="342900">
              <a:buAutoNum type="arabicPeriod"/>
            </a:pPr>
            <a:r>
              <a:rPr b="1"/>
              <a:t>Validation en temps réel</a:t>
            </a:r>
            <a:r>
              <a:rPr/>
              <a:t> : les coureurs voient le parcours avant d’accepter</a:t>
            </a:r>
          </a:p>
          <a:p>
            <a:pPr lvl="0" indent="0" marL="0">
              <a:buNone/>
            </a:pPr>
            <a:r>
              <a:rPr b="1"/>
              <a:t>Exemple d’usage concret :</a:t>
            </a:r>
            <a:r>
              <a:rPr/>
              <a:t> Paul est à 800m au nord du parc, Emma à 800m au sud → l’algorithme trouve un point à 1,2km à l’est pour chacun → départ synchronisé → course équitable garantie</a:t>
            </a:r>
          </a:p>
          <a:p>
            <a:pPr lvl="0" indent="0" marL="0">
              <a:buNone/>
            </a:pPr>
            <a:r>
              <a:rPr b="1"/>
              <a:t>Bénéfices utilisateur :</a:t>
            </a:r>
            <a:r>
              <a:rPr/>
              <a:t> ✅ Pas de triche de position → course 100% équitable ✅ Motivation instantanée → transforme sortie ordinaire en challenge excitant</a:t>
            </a:r>
            <a:br/>
            <a:r>
              <a:rPr/>
              <a:t>✅ Progression mesurée → chaque victoire compte pour votre classement ELO</a:t>
            </a:r>
          </a:p>
          <a:p>
            <a:pPr lvl="0" indent="0" marL="0">
              <a:buNone/>
            </a:pPr>
            <a:r>
              <a:rPr b="1"/>
              <a:t>Résultat :</a:t>
            </a:r>
            <a:r>
              <a:rPr/>
              <a:t> Compétition 100% équitable, quelle que soit votre position de départ</a:t>
            </a:r>
          </a:p>
          <a:p>
            <a:pPr lvl="0" indent="0" marL="0">
              <a:buNone/>
            </a:pPr>
            <a:r>
              <a:rPr b="1"/>
              <a:t>Notes présentateur :</a:t>
            </a:r>
            <a:r>
              <a:rPr/>
              <a:t> </a:t>
            </a:r>
            <a:r>
              <a:rPr i="1"/>
              <a:t>C’est LE différenciateur majeur apprécié par le jury. Insister sur le calcul algorithmique qui garantit l’équité. Aucun concurrent (Strava segments fixes, Nike Run Club défis asynchrones) ne propose cela. Cette innovation technique + système ELO = expérience de duel unique et juste.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6 - Scénario utilisateur : Emma vs Strava</a:t>
            </a:r>
          </a:p>
        </p:txBody>
      </p:sp>
      <p:sp>
        <p:nvSpPr>
          <p:cNvPr id="3" name="Content Placeholder 2"/>
          <p:cNvSpPr>
            <a:spLocks noGrp="1"/>
          </p:cNvSpPr>
          <p:nvPr>
            <p:ph idx="1"/>
          </p:nvPr>
        </p:nvSpPr>
        <p:spPr/>
        <p:txBody>
          <a:bodyPr/>
          <a:lstStyle/>
          <a:p>
            <a:pPr lvl="0" indent="0" marL="0">
              <a:buNone/>
            </a:pPr>
            <a:r>
              <a:rPr b="1"/>
              <a:t>Pourquoi Emma (29 ans, 4 courses/semaine) quitte Strava pour GeoRace</a:t>
            </a:r>
          </a:p>
          <a:p>
            <a:pPr lvl="0" indent="0" marL="0">
              <a:buNone/>
            </a:pPr>
            <a:r>
              <a:rPr b="1"/>
              <a:t>SUR STRAVA (avant) :</a:t>
            </a:r>
            <a:r>
              <a:rPr/>
              <a:t> - Lance l’app → court seule → partage son temps → 12 likes - “Mon meilleur temps sur ce segment : 8min23” - Motivation : ★★☆☆☆</a:t>
            </a:r>
          </a:p>
          <a:p>
            <a:pPr lvl="0" indent="0" marL="0">
              <a:buNone/>
            </a:pPr>
            <a:r>
              <a:rPr b="1"/>
              <a:t>SUR GEORACE (maintenant) :</a:t>
            </a:r>
            <a:r>
              <a:rPr/>
              <a:t> - Lance l’app → “3 coureurs détectés à 600m” - Accepte le défi de Lucas (ELO 1395, proche de son niveau 1420) - Course de 1,8km vers un point au bord de la rivière - </a:t>
            </a:r>
            <a:r>
              <a:rPr b="1"/>
              <a:t>ELLE GAGNE de 12 secondes</a:t>
            </a:r>
            <a:r>
              <a:rPr/>
              <a:t> → +28 ELO, badge “5 victoires” - Motivation : ★★★★★</a:t>
            </a:r>
          </a:p>
          <a:p>
            <a:pPr lvl="0" indent="0" marL="0">
              <a:buNone/>
            </a:pPr>
            <a:r>
              <a:rPr b="1"/>
              <a:t>CE QUI CHANGE :</a:t>
            </a:r>
            <a:r>
              <a:rPr/>
              <a:t> L’excitation d’une vraie compétition vs comparaison de chiffres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7 - Pourquoi les utilisateurs vont switcher</a:t>
            </a:r>
          </a:p>
        </p:txBody>
      </p:sp>
      <p:sp>
        <p:nvSpPr>
          <p:cNvPr id="3" name="Content Placeholder 2"/>
          <p:cNvSpPr>
            <a:spLocks noGrp="1"/>
          </p:cNvSpPr>
          <p:nvPr>
            <p:ph idx="1"/>
          </p:nvPr>
        </p:nvSpPr>
        <p:spPr/>
        <p:txBody>
          <a:bodyPr/>
          <a:lstStyle/>
          <a:p>
            <a:pPr lvl="0" indent="0" marL="0">
              <a:buNone/>
            </a:pPr>
            <a:r>
              <a:rPr b="1"/>
              <a:t>3 raisons concrètes de quitter Strava/Nike Run Club</a:t>
            </a:r>
          </a:p>
          <a:p>
            <a:pPr lvl="0" indent="0" marL="0">
              <a:buNone/>
            </a:pPr>
            <a:r>
              <a:rPr b="1"/>
              <a:t>1️⃣ LA COMPÉTITION RÉELLE</a:t>
            </a:r>
            <a:r>
              <a:rPr/>
              <a:t> - Strava : “J’ai fait 5km en 28min” → 0 émotion - GeoRace : “J’ai BATTU ce coureur qui me narguait !” → adrénaline ++</a:t>
            </a:r>
          </a:p>
          <a:p>
            <a:pPr lvl="0" indent="0" marL="0">
              <a:buNone/>
            </a:pPr>
            <a:r>
              <a:rPr b="1"/>
              <a:t>2️⃣ L’INTERACTION SOCIALE ACTIVE</a:t>
            </a:r>
            <a:r>
              <a:rPr/>
              <a:t> - Nike Run Club : partage de stats passives - GeoRace : duels live, chat en direct, défis entre amis</a:t>
            </a:r>
          </a:p>
          <a:p>
            <a:pPr lvl="0" indent="0" marL="0">
              <a:buNone/>
            </a:pPr>
            <a:r>
              <a:rPr b="1"/>
              <a:t>3️⃣ LA PROGRESSION VISIBLE</a:t>
            </a:r>
            <a:r>
              <a:rPr/>
              <a:t> - Runkeeper : graphiques de distance et temps - GeoRace : classement ELO qui monte, badges débloqués, statut (Bronze → Or)</a:t>
            </a:r>
          </a:p>
          <a:p>
            <a:pPr lvl="0" indent="0" marL="0">
              <a:buNone/>
            </a:pPr>
            <a:r>
              <a:rPr b="1"/>
              <a:t>Les utilisateurs ne veulent plus juste “tracker” leurs courses.</a:t>
            </a:r>
            <a:br/>
            <a:r>
              <a:rPr b="1"/>
              <a:t>Ils veulent GAGNER.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8 - Tableau comparatif : GeoRace vs Concurrents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Fonctionnalité</a:t>
                      </a:r>
                    </a:p>
                  </a:txBody>
                  <a:tcPr/>
                </a:tc>
                <a:tc>
                  <a:txBody>
                    <a:bodyPr/>
                    <a:lstStyle/>
                    <a:p>
                      <a:pPr lvl="0" indent="0" marL="0" algn="ctr">
                        <a:buNone/>
                      </a:pPr>
                      <a:r>
                        <a:rPr/>
                        <a:t>Strava</a:t>
                      </a:r>
                    </a:p>
                  </a:txBody>
                  <a:tcPr/>
                </a:tc>
                <a:tc>
                  <a:txBody>
                    <a:bodyPr/>
                    <a:lstStyle/>
                    <a:p>
                      <a:pPr lvl="0" indent="0" marL="0" algn="ctr">
                        <a:buNone/>
                      </a:pPr>
                      <a:r>
                        <a:rPr/>
                        <a:t>Nike Run Club</a:t>
                      </a:r>
                    </a:p>
                  </a:txBody>
                  <a:tcPr/>
                </a:tc>
                <a:tc>
                  <a:txBody>
                    <a:bodyPr/>
                    <a:lstStyle/>
                    <a:p>
                      <a:pPr lvl="0" indent="0" marL="0" algn="ctr">
                        <a:buNone/>
                      </a:pPr>
                      <a:r>
                        <a:rPr/>
                        <a:t>Runkeeper</a:t>
                      </a:r>
                    </a:p>
                  </a:txBody>
                  <a:tcPr/>
                </a:tc>
                <a:tc>
                  <a:txBody>
                    <a:bodyPr/>
                    <a:lstStyle/>
                    <a:p>
                      <a:pPr lvl="0" indent="0" marL="0" algn="ctr">
                        <a:buNone/>
                      </a:pPr>
                      <a:r>
                        <a:rPr b="1"/>
                        <a:t>GeoRace</a:t>
                      </a:r>
                    </a:p>
                  </a:txBody>
                  <a:tcPr/>
                </a:tc>
              </a:tr>
              <a:tr h="0">
                <a:tc>
                  <a:txBody>
                    <a:bodyPr/>
                    <a:lstStyle/>
                    <a:p>
                      <a:pPr lvl="0" indent="0" marL="0">
                        <a:buNone/>
                      </a:pPr>
                      <a:r>
                        <a:rPr/>
                        <a:t>Duels en temps réel</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Point d’arrivée équidistant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Matchmaking ELO</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Compétition synchrone</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Tracking GPS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Segments fixes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r h="0">
                <a:tc>
                  <a:txBody>
                    <a:bodyPr/>
                    <a:lstStyle/>
                    <a:p>
                      <a:pPr lvl="0" indent="0" marL="0">
                        <a:buNone/>
                      </a:pPr>
                      <a:r>
                        <a:rPr/>
                        <a:t>Défis asynchrones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GeoRace = Seule app de duel instantané et équitable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9 - Nos différenciateurs</a:t>
            </a:r>
          </a:p>
        </p:txBody>
      </p:sp>
      <p:sp>
        <p:nvSpPr>
          <p:cNvPr id="3" name="Content Placeholder 2"/>
          <p:cNvSpPr>
            <a:spLocks noGrp="1"/>
          </p:cNvSpPr>
          <p:nvPr>
            <p:ph idx="1"/>
          </p:nvPr>
        </p:nvSpPr>
        <p:spPr/>
        <p:txBody>
          <a:bodyPr/>
          <a:lstStyle/>
          <a:p>
            <a:pPr lvl="0" indent="0" marL="0">
              <a:buNone/>
            </a:pPr>
            <a:r>
              <a:rPr b="1"/>
              <a:t>Fonctionnalités qui nous distinguent des concurrents</a:t>
            </a:r>
          </a:p>
          <a:p>
            <a:pPr lvl="0" indent="0" marL="0">
              <a:buNone/>
            </a:pPr>
            <a:r>
              <a:rPr/>
              <a:t>✅ </a:t>
            </a:r>
            <a:r>
              <a:rPr b="1"/>
              <a:t>Duels équidistants en temps réel</a:t>
            </a:r>
            <a:r>
              <a:rPr/>
              <a:t> Point d’arrivée calculé à distance égale pour tous → équité parfaite garantie</a:t>
            </a:r>
          </a:p>
          <a:p>
            <a:pPr lvl="0" indent="0" marL="0">
              <a:buNone/>
            </a:pPr>
            <a:r>
              <a:rPr/>
              <a:t>✅ </a:t>
            </a:r>
            <a:r>
              <a:rPr b="1"/>
              <a:t>Matchmaking ELO intelligent</a:t>
            </a:r>
            <a:r>
              <a:rPr/>
              <a:t> Vous affrontez des coureurs de votre niveau → compétition équilibrée et motivante</a:t>
            </a:r>
          </a:p>
          <a:p>
            <a:pPr lvl="0" indent="0" marL="0">
              <a:buNone/>
            </a:pPr>
            <a:r>
              <a:rPr/>
              <a:t>✅ </a:t>
            </a:r>
            <a:r>
              <a:rPr b="1"/>
              <a:t>Anti-triche GPS avancé</a:t>
            </a:r>
            <a:r>
              <a:rPr/>
              <a:t> Détection de vitesse anormale + validation communautaire → intégrité des courses</a:t>
            </a:r>
          </a:p>
          <a:p>
            <a:pPr lvl="0" indent="0" marL="0">
              <a:buNone/>
            </a:pPr>
            <a:r>
              <a:rPr/>
              <a:t>✅ </a:t>
            </a:r>
            <a:r>
              <a:rPr b="1"/>
              <a:t>Confidentialité position limitée</a:t>
            </a:r>
            <a:r>
              <a:rPr/>
              <a:t> Position visible uniquement pendant les duels actifs → sécurité et vie privée</a:t>
            </a:r>
          </a:p>
          <a:p>
            <a:pPr lvl="0" indent="0" marL="0">
              <a:buNone/>
            </a:pPr>
            <a:r>
              <a:rPr/>
              <a:t>✅ </a:t>
            </a:r>
            <a:r>
              <a:rPr b="1"/>
              <a:t>Progression visible &amp; badges</a:t>
            </a:r>
            <a:r>
              <a:rPr/>
              <a:t> Système de classement (Bronze → Platine) + achievements → motivation continue</a:t>
            </a:r>
          </a:p>
          <a:p>
            <a:pPr lvl="0" indent="0" marL="0">
              <a:buNone/>
            </a:pPr>
            <a:r>
              <a:rPr/>
              <a:t>✅ </a:t>
            </a:r>
            <a:r>
              <a:rPr b="1"/>
              <a:t>Communauté locale active</a:t>
            </a:r>
            <a:r>
              <a:rPr/>
              <a:t> Événements de quartier, ligues locales, défis hebdomadaires → engagement social</a:t>
            </a:r>
          </a:p>
          <a:p>
            <a:pPr lvl="0" indent="0" marL="0">
              <a:buNone/>
            </a:pPr>
            <a:r>
              <a:rPr b="1"/>
              <a:t>CE QUE STRAVA NE PEUT PAS COPIER :</a:t>
            </a:r>
            <a:r>
              <a:rPr/>
              <a:t> - Algorithme de point équidistant (brevet déposable) - Infrastructure temps réel WebSocket (&lt;500ms de latence) - Communauté de compétiteurs avec historique ELO</a:t>
            </a:r>
          </a:p>
          <a:p>
            <a:pPr lvl="0" indent="0" marL="0">
              <a:buNone/>
            </a:pPr>
            <a:r>
              <a:rPr b="1"/>
              <a:t>Notes présentateur :</a:t>
            </a:r>
            <a:r>
              <a:rPr/>
              <a:t> </a:t>
            </a:r>
            <a:r>
              <a:rPr i="1"/>
              <a:t>Insister sur l’équité des duels (point équidistant) qui est notre innovation clé appréciée par le jury. Les concurrents n’offrent que du tracking ou des défis asynchrones. Notre combinaison matchmaking ELO + duels temps réel = unique sur le marché. La sécurité (anti-triche + confidentialité) répond aux préoccupations principales.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10 - Pitch : Pourquoi les utilisateurs viendront chez GeoRace</a:t>
            </a:r>
          </a:p>
        </p:txBody>
      </p:sp>
      <p:sp>
        <p:nvSpPr>
          <p:cNvPr id="3" name="Content Placeholder 2"/>
          <p:cNvSpPr>
            <a:spLocks noGrp="1"/>
          </p:cNvSpPr>
          <p:nvPr>
            <p:ph idx="1"/>
          </p:nvPr>
        </p:nvSpPr>
        <p:spPr/>
        <p:txBody>
          <a:bodyPr/>
          <a:lstStyle/>
          <a:p>
            <a:pPr lvl="0" indent="0" marL="0">
              <a:buNone/>
            </a:pPr>
            <a:r>
              <a:rPr b="1"/>
              <a:t>Stratégie d’acquisition des utilisateurs déjà sur d’autres apps</a:t>
            </a:r>
          </a:p>
          <a:p>
            <a:pPr lvl="0" indent="0" marL="0">
              <a:buNone/>
            </a:pPr>
            <a:r>
              <a:rPr/>
              <a:t>🎯 </a:t>
            </a:r>
            <a:r>
              <a:rPr b="1"/>
              <a:t>Ciblage coureurs locaux via duels</a:t>
            </a:r>
            <a:r>
              <a:rPr/>
              <a:t> Notifications “3 coureurs près de vous → défiez-les” → expérience immédiate</a:t>
            </a:r>
          </a:p>
          <a:p>
            <a:pPr lvl="0" indent="0" marL="0">
              <a:buNone/>
            </a:pPr>
            <a:r>
              <a:rPr/>
              <a:t>🤝 </a:t>
            </a:r>
            <a:r>
              <a:rPr b="1"/>
              <a:t>Partenariats locaux</a:t>
            </a:r>
            <a:r>
              <a:rPr/>
              <a:t> Clubs de running + événements sportifs → visibilité communautaire ciblée</a:t>
            </a:r>
          </a:p>
          <a:p>
            <a:pPr lvl="0" indent="0" marL="0">
              <a:buNone/>
            </a:pPr>
            <a:r>
              <a:rPr/>
              <a:t>🏆 </a:t>
            </a:r>
            <a:r>
              <a:rPr b="1"/>
              <a:t>Challenges hebdomadaires locaux</a:t>
            </a:r>
            <a:r>
              <a:rPr/>
              <a:t> “Top 10 de votre quartier cette semaine” → compétition de proximité</a:t>
            </a:r>
          </a:p>
          <a:p>
            <a:pPr lvl="0" indent="0" marL="0">
              <a:buNone/>
            </a:pPr>
            <a:r>
              <a:rPr/>
              <a:t>👥 </a:t>
            </a:r>
            <a:r>
              <a:rPr b="1"/>
              <a:t>Parrainage via duels</a:t>
            </a:r>
            <a:r>
              <a:rPr/>
              <a:t> “Invitez un ami → débloquez 10 duels bonus” → croissance virale naturelle</a:t>
            </a:r>
          </a:p>
          <a:p>
            <a:pPr lvl="0" indent="0" marL="0">
              <a:buNone/>
            </a:pPr>
            <a:r>
              <a:rPr/>
              <a:t>📱 </a:t>
            </a:r>
            <a:r>
              <a:rPr b="1"/>
              <a:t>Intégration réseaux sociaux</a:t>
            </a:r>
            <a:r>
              <a:rPr/>
              <a:t> Partage automatique résultats (Instagram, Facebook) → preuve sociale</a:t>
            </a:r>
          </a:p>
          <a:p>
            <a:pPr lvl="0" indent="0" marL="0">
              <a:buNone/>
            </a:pPr>
            <a:r>
              <a:rPr/>
              <a:t>⏰ </a:t>
            </a:r>
            <a:r>
              <a:rPr b="1"/>
              <a:t>Notifications contextuelles</a:t>
            </a:r>
            <a:r>
              <a:rPr/>
              <a:t> “Vous venez de courir 5km → proposer un duel proche ?” → timing parfait</a:t>
            </a:r>
          </a:p>
          <a:p>
            <a:pPr lvl="0" indent="0" marL="0">
              <a:buNone/>
            </a:pPr>
            <a:r>
              <a:rPr/>
              <a:t>🎮 </a:t>
            </a:r>
            <a:r>
              <a:rPr b="1"/>
              <a:t>Mise en avant duel dès l’onboarding</a:t>
            </a:r>
            <a:r>
              <a:rPr/>
              <a:t> Premier duel guidé gratuit dans les 5 premières minutes → hook immédiat</a:t>
            </a:r>
          </a:p>
          <a:p>
            <a:pPr lvl="0" indent="0" marL="0">
              <a:buNone/>
            </a:pPr>
            <a:r>
              <a:rPr/>
              <a:t>📊 </a:t>
            </a:r>
            <a:r>
              <a:rPr b="1"/>
              <a:t>Preuve sociale locale</a:t>
            </a:r>
            <a:r>
              <a:rPr/>
              <a:t> Classements par quartier + badges visibles → effet FOMO</a:t>
            </a:r>
          </a:p>
          <a:p>
            <a:pPr lvl="0" indent="0" marL="0">
              <a:buNone/>
            </a:pPr>
            <a:r>
              <a:rPr/>
              <a:t>🎯 </a:t>
            </a:r>
            <a:r>
              <a:rPr b="1"/>
              <a:t>Campagnes segments compétitifs</a:t>
            </a:r>
            <a:r>
              <a:rPr/>
              <a:t> Ciblage sprinters, joggers réguliers, groupes d’amis → messages personnalisés</a:t>
            </a:r>
          </a:p>
          <a:p>
            <a:pPr lvl="0" indent="0" marL="0">
              <a:buNone/>
            </a:pPr>
            <a:r>
              <a:rPr b="1"/>
              <a:t>Notes présentateur :</a:t>
            </a:r>
            <a:r>
              <a:rPr/>
              <a:t> </a:t>
            </a:r>
            <a:r>
              <a:rPr i="1"/>
              <a:t>Notre avantage : les utilisateurs de Strava/Nike Run Club cherchent déjà la compétition mais n’ont que des défis asynchrones. Nous offrons l’excitation du temps réel. Tactique clé : notification post-course pour transformer l’habitude existante en duel GeoRace. Les partenariats clubs donnent crédibilité locale. Le parrainage via duels crée une boucle virale (inviter = jouer ensemble).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11 - Le système ELO : matchmaking intelligent</a:t>
            </a:r>
          </a:p>
        </p:txBody>
      </p:sp>
      <p:sp>
        <p:nvSpPr>
          <p:cNvPr id="3" name="Content Placeholder 2"/>
          <p:cNvSpPr>
            <a:spLocks noGrp="1"/>
          </p:cNvSpPr>
          <p:nvPr>
            <p:ph idx="1"/>
          </p:nvPr>
        </p:nvSpPr>
        <p:spPr/>
        <p:txBody>
          <a:bodyPr/>
          <a:lstStyle/>
          <a:p>
            <a:pPr lvl="0" indent="0" marL="0">
              <a:buNone/>
            </a:pPr>
            <a:r>
              <a:rPr b="1"/>
              <a:t>Pourquoi le duel reste motivant même après 100 courses</a:t>
            </a:r>
          </a:p>
          <a:p>
            <a:pPr lvl="0" indent="0" marL="0">
              <a:buNone/>
            </a:pPr>
            <a:r>
              <a:rPr b="1"/>
              <a:t>Problème :</a:t>
            </a:r>
            <a:r>
              <a:rPr/>
              <a:t> Si on oppose débutants vs experts → frustration des deux côtés</a:t>
            </a:r>
          </a:p>
          <a:p>
            <a:pPr lvl="0" indent="0" marL="0">
              <a:buNone/>
            </a:pPr>
            <a:r>
              <a:rPr b="1"/>
              <a:t>Solution ELO :</a:t>
            </a:r>
            <a:r>
              <a:rPr/>
              <a:t> - Chaque victoire/défaite ajuste votre score - Algorithme vous oppose à des coureurs de ±100 ELO - Progression visible : Bronze (0-1000) → Platine (2000+)</a:t>
            </a:r>
          </a:p>
          <a:p>
            <a:pPr lvl="0" indent="0" marL="0">
              <a:buNone/>
            </a:pPr>
            <a:r>
              <a:rPr b="1"/>
              <a:t>Exemple concret :</a:t>
            </a:r>
            <a:r>
              <a:rPr/>
              <a:t> - Emma (ELO 1420) bat Lucas (ELO 1450) → +28 points (victoire difficile) - Emma bat Sophie (ELO 1200) → +8 points (victoire facile)</a:t>
            </a:r>
          </a:p>
          <a:p>
            <a:pPr lvl="0" indent="0" marL="0">
              <a:buNone/>
            </a:pPr>
            <a:r>
              <a:rPr b="1"/>
              <a:t>Résultat :</a:t>
            </a:r>
            <a:r>
              <a:rPr/>
              <a:t> Chaque duel est challengeant mais faisable → motivation maximale</a:t>
            </a:r>
          </a:p>
          <a:p>
            <a:pPr lvl="0" indent="0" marL="0">
              <a:buNone/>
            </a:pPr>
            <a:r>
              <a:rPr b="1"/>
              <a:t>Strava ne propose rien de tel.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12 - Aspect social : plus fort que Nike Run Club</a:t>
            </a:r>
          </a:p>
        </p:txBody>
      </p:sp>
      <p:sp>
        <p:nvSpPr>
          <p:cNvPr id="3" name="Content Placeholder 2"/>
          <p:cNvSpPr>
            <a:spLocks noGrp="1"/>
          </p:cNvSpPr>
          <p:nvPr>
            <p:ph idx="1"/>
          </p:nvPr>
        </p:nvSpPr>
        <p:spPr/>
        <p:txBody>
          <a:bodyPr/>
          <a:lstStyle/>
          <a:p>
            <a:pPr lvl="0" indent="0" marL="0">
              <a:buNone/>
            </a:pPr>
            <a:r>
              <a:rPr b="1"/>
              <a:t>Créer une vraie communauté de compétiteurs</a:t>
            </a:r>
          </a:p>
          <a:p>
            <a:pPr lvl="0" indent="0" marL="0">
              <a:buNone/>
            </a:pPr>
            <a:r>
              <a:rPr b="1"/>
              <a:t>FONCTIONNALITÉS SOCIALES :</a:t>
            </a:r>
          </a:p>
          <a:p>
            <a:pPr lvl="0" indent="0" marL="0">
              <a:buNone/>
            </a:pPr>
            <a:r>
              <a:rPr b="1"/>
              <a:t>01 - PROFILS DE COMPÉTITEURS</a:t>
            </a:r>
            <a:r>
              <a:rPr/>
              <a:t> - Statistiques détaillées : ratio victoires/défaites, progression ELO, parcours favoris - Historique des duels : “Vous avez battu Paul 3 fois, il vous a battu 2 fois”</a:t>
            </a:r>
          </a:p>
          <a:p>
            <a:pPr lvl="0" indent="0" marL="0">
              <a:buNone/>
            </a:pPr>
            <a:r>
              <a:rPr b="1"/>
              <a:t>02 - LIGUES LOCALES</a:t>
            </a:r>
            <a:r>
              <a:rPr/>
              <a:t> - Classement par ville/quartier : “Top 10 de Paris 15e” - Tournois hebdomadaires : “Gagnez 3 duels ce week-end pour le badge”</a:t>
            </a:r>
          </a:p>
          <a:p>
            <a:pPr lvl="0" indent="0" marL="0">
              <a:buNone/>
            </a:pPr>
            <a:r>
              <a:rPr b="1"/>
              <a:t>03 - DÉFIS ENTRE AMIS</a:t>
            </a:r>
            <a:r>
              <a:rPr/>
              <a:t> - “Emma défie Paul : course de 2km, RDV Parc Montsouris dans 20min” - Smack talk via chat intégré avant/après la course</a:t>
            </a:r>
          </a:p>
          <a:p>
            <a:pPr lvl="0" indent="0" marL="0">
              <a:buNone/>
            </a:pPr>
            <a:r>
              <a:rPr b="1"/>
              <a:t>Nike Run Club = réseau passif</a:t>
            </a:r>
            <a:br/>
            <a:r>
              <a:rPr b="1"/>
              <a:t>GeoRace = compétition active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13 - Sécurité et anti-triche</a:t>
            </a:r>
          </a:p>
        </p:txBody>
      </p:sp>
      <p:sp>
        <p:nvSpPr>
          <p:cNvPr id="3" name="Content Placeholder 2"/>
          <p:cNvSpPr>
            <a:spLocks noGrp="1"/>
          </p:cNvSpPr>
          <p:nvPr>
            <p:ph idx="1"/>
          </p:nvPr>
        </p:nvSpPr>
        <p:spPr/>
        <p:txBody>
          <a:bodyPr/>
          <a:lstStyle/>
          <a:p>
            <a:pPr lvl="0" indent="0" marL="0">
              <a:buNone/>
            </a:pPr>
            <a:r>
              <a:rPr b="1"/>
              <a:t>Réponses aux objections principales</a:t>
            </a:r>
          </a:p>
          <a:p>
            <a:pPr lvl="0" indent="0" marL="0">
              <a:buNone/>
            </a:pPr>
            <a:r>
              <a:rPr b="1"/>
              <a:t>OBJECTION 1 : “On peut tricher en vélo/voiture”</a:t>
            </a:r>
            <a:r>
              <a:rPr/>
              <a:t> ✅ Détection de vitesse anormale (&gt;18 km/h sur longue durée) ✅ Analyse des patterns GPS (accélération impossible) ✅ Signalement communautaire + vérification manuelle ✅ Bannissement permanent des tricheurs</a:t>
            </a:r>
          </a:p>
          <a:p>
            <a:pPr lvl="0" indent="0" marL="0">
              <a:buNone/>
            </a:pPr>
            <a:r>
              <a:rPr b="1"/>
              <a:t>OBJECTION 2 : “Risque de stalking via GPS”</a:t>
            </a:r>
            <a:r>
              <a:rPr/>
              <a:t> ✅ Position visible UNIQUEMENT pendant les duels actifs ✅ Mode anonyme : pseudonyme, pas de vraie identité ✅ Blocage d’utilisateurs ✅ Zone de confort : accepter duels uniquement dans un périmètre défini</a:t>
            </a:r>
          </a:p>
          <a:p>
            <a:pPr lvl="0" indent="0" marL="0">
              <a:buNone/>
            </a:pPr>
            <a:r>
              <a:rPr b="1"/>
              <a:t>OBJECTION 3 : “Sur-effort dangereux”</a:t>
            </a:r>
            <a:r>
              <a:rPr/>
              <a:t> ✅ Alertes de sécurité si rythme cardiaque trop élevé (intégration montres) ✅ Mode “course prudente” qui limite la vitesse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14 - Modèle économique : freemium optimisé</a:t>
            </a:r>
          </a:p>
        </p:txBody>
      </p:sp>
      <p:sp>
        <p:nvSpPr>
          <p:cNvPr id="3" name="Content Placeholder 2"/>
          <p:cNvSpPr>
            <a:spLocks noGrp="1"/>
          </p:cNvSpPr>
          <p:nvPr>
            <p:ph idx="1"/>
          </p:nvPr>
        </p:nvSpPr>
        <p:spPr/>
        <p:txBody>
          <a:bodyPr/>
          <a:lstStyle/>
          <a:p>
            <a:pPr lvl="0" indent="0" marL="0">
              <a:buNone/>
            </a:pPr>
            <a:r>
              <a:rPr b="1"/>
              <a:t>Convertir la motivation en revenus</a:t>
            </a:r>
          </a:p>
          <a:p>
            <a:pPr lvl="0" indent="0" marL="0">
              <a:buNone/>
            </a:pPr>
            <a:r>
              <a:rPr b="1"/>
              <a:t>GRATUIT (acquisition) :</a:t>
            </a:r>
            <a:r>
              <a:rPr/>
              <a:t> - 3 duels/jour - ELO et classements - Statistiques de base - Événements communautaires</a:t>
            </a:r>
          </a:p>
          <a:p>
            <a:pPr lvl="0" indent="0" marL="0">
              <a:buNone/>
            </a:pPr>
            <a:r>
              <a:rPr b="1"/>
              <a:t>PREMIUM 4,99€/mois (conversion 10-15%) :</a:t>
            </a:r>
            <a:r>
              <a:rPr/>
              <a:t> - </a:t>
            </a:r>
            <a:r>
              <a:rPr b="1"/>
              <a:t>Duels illimités</a:t>
            </a:r>
            <a:r>
              <a:rPr/>
              <a:t> ← valeur principale - Statistiques avancées (zones de vitesse, analyse progression ELO) - Mode entraînement vs vos records passés - Personnalisation (avatars, badges exclusifs) - 0 publicité</a:t>
            </a:r>
          </a:p>
          <a:p>
            <a:pPr lvl="0" indent="0" marL="0">
              <a:buNone/>
            </a:pPr>
            <a:r>
              <a:rPr b="1"/>
              <a:t>REVENUS ADDITIONNELS :</a:t>
            </a:r>
            <a:r>
              <a:rPr/>
              <a:t> - Partenariats Nike/Adidas (sponsoring tournois) - Événements premium 5-10€ (courses organisées avec prix)</a:t>
            </a:r>
          </a:p>
          <a:p>
            <a:pPr lvl="0" indent="0" marL="0">
              <a:buNone/>
            </a:pPr>
            <a:r>
              <a:rPr b="1"/>
              <a:t>LTV estimée :</a:t>
            </a:r>
            <a:r>
              <a:rPr/>
              <a:t> 60€/utilisateur sur 12 mois (vs 12€ pour Strava)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15 - Métriques de succès (objectifs 6 mois)</a:t>
            </a:r>
          </a:p>
        </p:txBody>
      </p:sp>
      <p:sp>
        <p:nvSpPr>
          <p:cNvPr id="3" name="Content Placeholder 2"/>
          <p:cNvSpPr>
            <a:spLocks noGrp="1"/>
          </p:cNvSpPr>
          <p:nvPr>
            <p:ph idx="1"/>
          </p:nvPr>
        </p:nvSpPr>
        <p:spPr/>
        <p:txBody>
          <a:bodyPr/>
          <a:lstStyle/>
          <a:p>
            <a:pPr lvl="0" indent="0" marL="0">
              <a:buNone/>
            </a:pPr>
            <a:r>
              <a:rPr b="1"/>
              <a:t>Comment mesurer la traction</a:t>
            </a:r>
          </a:p>
          <a:p>
            <a:pPr lvl="0" indent="0" marL="0">
              <a:buNone/>
            </a:pPr>
            <a:r>
              <a:rPr b="1"/>
              <a:t>ENGAGEMENT (prouve que le concept marche) :</a:t>
            </a:r>
            <a:r>
              <a:rPr/>
              <a:t> - ✅ Taux de rétention J7 : &gt;40% (vs 25% apps fitness standard) - ✅ Duels/semaine/utilisateur : 6-8 (preuve d’addiction) - ✅ Taux d’acceptation duels : &gt;60% (les gens veulent compétitionner)</a:t>
            </a:r>
          </a:p>
          <a:p>
            <a:pPr lvl="0" indent="0" marL="0">
              <a:buNone/>
            </a:pPr>
            <a:r>
              <a:rPr b="1"/>
              <a:t>CROISSANCE (viralité naturelle) :</a:t>
            </a:r>
            <a:r>
              <a:rPr/>
              <a:t> - ✅ Coefficient K : &gt;1,2 (chaque utilisateur amène 1,2 nouveau) - ✅ Croissance mensuelle : +20% nouveaux utilisateurs - ✅ 500 utilisateurs actifs dans 3 villes pilotes</a:t>
            </a:r>
          </a:p>
          <a:p>
            <a:pPr lvl="0" indent="0" marL="0">
              <a:buNone/>
            </a:pPr>
            <a:r>
              <a:rPr b="1"/>
              <a:t>MONÉTISATION :</a:t>
            </a:r>
            <a:r>
              <a:rPr/>
              <a:t> - ✅ Conversion Premium : 10-12% (vs 5% moyenne marché) - ✅ LTV/CAC : &gt;3 (rentabilité prouvée)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16 - Roadmap : lancement en 3 phases</a:t>
            </a:r>
          </a:p>
        </p:txBody>
      </p:sp>
      <p:sp>
        <p:nvSpPr>
          <p:cNvPr id="3" name="Content Placeholder 2"/>
          <p:cNvSpPr>
            <a:spLocks noGrp="1"/>
          </p:cNvSpPr>
          <p:nvPr>
            <p:ph idx="1"/>
          </p:nvPr>
        </p:nvSpPr>
        <p:spPr/>
        <p:txBody>
          <a:bodyPr/>
          <a:lstStyle/>
          <a:p>
            <a:pPr lvl="0" indent="0" marL="0">
              <a:buNone/>
            </a:pPr>
            <a:r>
              <a:rPr b="1"/>
              <a:t>Phase 1 (Mois 1-6) : MVP + Proof of Concept</a:t>
            </a:r>
            <a:r>
              <a:rPr/>
              <a:t> - App iOS/Android (React Native) - Duels 1v1, ELO, point équidistant - Lancement Paris + Lyon - </a:t>
            </a:r>
            <a:r>
              <a:rPr b="1"/>
              <a:t>500 utilisateurs actifs, 40% rétention J7</a:t>
            </a:r>
          </a:p>
          <a:p>
            <a:pPr lvl="0" indent="0" marL="0">
              <a:buNone/>
            </a:pPr>
            <a:r>
              <a:rPr b="1"/>
              <a:t>Phase 2 (Mois 7-12) : Gamification et viralité</a:t>
            </a:r>
            <a:r>
              <a:rPr/>
              <a:t> - Badges, profils, ligues locales - Événements hebdomadaires - Feature “Défier un ami” - </a:t>
            </a:r>
            <a:r>
              <a:rPr b="1"/>
              <a:t>5 000 utilisateurs, expansion 5 villes</a:t>
            </a:r>
          </a:p>
          <a:p>
            <a:pPr lvl="0" indent="0" marL="0">
              <a:buNone/>
            </a:pPr>
            <a:r>
              <a:rPr b="1"/>
              <a:t>Phase 3 (An 2) : Scale national</a:t>
            </a:r>
            <a:r>
              <a:rPr/>
              <a:t> - Version Premium - Duels multi-joueurs (3-5 coureurs) - Partenariats marques - </a:t>
            </a:r>
            <a:r>
              <a:rPr b="1"/>
              <a:t>50 000 utilisateurs, 10+ villes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17 - Pourquoi maintenant ?</a:t>
            </a:r>
          </a:p>
        </p:txBody>
      </p:sp>
      <p:sp>
        <p:nvSpPr>
          <p:cNvPr id="3" name="Content Placeholder 2"/>
          <p:cNvSpPr>
            <a:spLocks noGrp="1"/>
          </p:cNvSpPr>
          <p:nvPr>
            <p:ph idx="1"/>
          </p:nvPr>
        </p:nvSpPr>
        <p:spPr/>
        <p:txBody>
          <a:bodyPr/>
          <a:lstStyle/>
          <a:p>
            <a:pPr lvl="0" indent="0" marL="0">
              <a:buNone/>
            </a:pPr>
            <a:r>
              <a:rPr b="1"/>
              <a:t>Le timing parfait pour GeoRace</a:t>
            </a:r>
          </a:p>
          <a:p>
            <a:pPr lvl="0" indent="0" marL="0">
              <a:buNone/>
            </a:pPr>
            <a:r>
              <a:rPr b="1"/>
              <a:t>1. MARCHÉ MATURE MAIS STAGNANT</a:t>
            </a:r>
            <a:r>
              <a:rPr/>
              <a:t> - Strava : 100M users, mais taux engagement en baisse - Utilisateurs cherchent nouveauté et excitation</a:t>
            </a:r>
          </a:p>
          <a:p>
            <a:pPr lvl="0" indent="0" marL="0">
              <a:buNone/>
            </a:pPr>
            <a:r>
              <a:rPr b="1"/>
              <a:t>2. TECHNOLOGIE DISPONIBLE</a:t>
            </a:r>
            <a:r>
              <a:rPr/>
              <a:t> - GPS précis sur tous les smartphones - WebSocket et infra cloud à faible coût - Algorithmes géospatiaux open-source (PostGIS)</a:t>
            </a:r>
          </a:p>
          <a:p>
            <a:pPr lvl="0" indent="0" marL="0">
              <a:buNone/>
            </a:pPr>
            <a:r>
              <a:rPr b="1"/>
              <a:t>3. TENDANCE SOCIALE</a:t>
            </a:r>
            <a:r>
              <a:rPr/>
              <a:t> - Génération Z/Millennials : veulent compétition et instant gratification - Esport et gamification mainstream - Communautés locales en recherche de connexion IRL</a:t>
            </a:r>
          </a:p>
          <a:p>
            <a:pPr lvl="0" indent="0" marL="0">
              <a:buNone/>
            </a:pPr>
            <a:r>
              <a:rPr b="1"/>
              <a:t>4. COVID A BOOSTÉ LE RUNNING</a:t>
            </a:r>
            <a:r>
              <a:rPr/>
              <a:t> - +40% de coureurs réguliers depuis 2020 - Besoin d’interaction sociale post-confinement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18 - Vision finale</a:t>
            </a:r>
          </a:p>
        </p:txBody>
      </p:sp>
      <p:sp>
        <p:nvSpPr>
          <p:cNvPr id="3" name="Content Placeholder 2"/>
          <p:cNvSpPr>
            <a:spLocks noGrp="1"/>
          </p:cNvSpPr>
          <p:nvPr>
            <p:ph idx="1"/>
          </p:nvPr>
        </p:nvSpPr>
        <p:spPr/>
        <p:txBody>
          <a:bodyPr/>
          <a:lstStyle/>
          <a:p>
            <a:pPr lvl="0" indent="0" marL="1270000">
              <a:buNone/>
            </a:pPr>
            <a:r>
              <a:rPr sz="2000" b="1"/>
              <a:t>GeoRace ne remplace pas Strava.</a:t>
            </a:r>
            <a:br/>
            <a:r>
              <a:rPr sz="2000" b="1"/>
              <a:t>GeoRace transforme la course en sport compétitif accessible.</a:t>
            </a:r>
          </a:p>
          <a:p>
            <a:pPr lvl="0" indent="0" marL="0">
              <a:buNone/>
            </a:pPr>
            <a:r>
              <a:rPr b="1"/>
              <a:t>Notre ambition :</a:t>
            </a:r>
          </a:p>
          <a:p>
            <a:pPr lvl="0" indent="0" marL="0">
              <a:buNone/>
            </a:pPr>
            <a:r>
              <a:rPr/>
              <a:t>🎯 Devenir la plateforme #1 de compétition running temps réel</a:t>
            </a:r>
            <a:br/>
            <a:r>
              <a:rPr/>
              <a:t>🌍 Créer une communauté mondiale de 1M+ coureurs compétitifs</a:t>
            </a:r>
            <a:br/>
            <a:r>
              <a:rPr/>
              <a:t>🏆 Organiser des ligues professionnelles GeoRace (comme l’esport)</a:t>
            </a:r>
          </a:p>
          <a:p>
            <a:pPr lvl="0" indent="0" marL="0">
              <a:buNone/>
            </a:pPr>
            <a:r>
              <a:rPr b="1"/>
              <a:t>Dans 5 ans :</a:t>
            </a:r>
            <a:r>
              <a:rPr/>
              <a:t> - “Tu es sur GeoRace ?” = nouvelle norme chez les coureurs - Événements physiques GeoRace dans 50 villes - Partenariats JO Paris 2028 (course urbaine compétitive)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19 - Appel à l’action</a:t>
            </a:r>
          </a:p>
        </p:txBody>
      </p:sp>
      <p:sp>
        <p:nvSpPr>
          <p:cNvPr id="3" name="Content Placeholder 2"/>
          <p:cNvSpPr>
            <a:spLocks noGrp="1"/>
          </p:cNvSpPr>
          <p:nvPr>
            <p:ph idx="1"/>
          </p:nvPr>
        </p:nvSpPr>
        <p:spPr/>
        <p:txBody>
          <a:bodyPr/>
          <a:lstStyle/>
          <a:p>
            <a:pPr lvl="0" indent="0" marL="0">
              <a:buNone/>
            </a:pPr>
            <a:r>
              <a:rPr b="1"/>
              <a:t>Pourquoi investir/soutenir GeoRace ?</a:t>
            </a:r>
          </a:p>
          <a:p>
            <a:pPr lvl="0" indent="0" marL="0">
              <a:buNone/>
            </a:pPr>
            <a:r>
              <a:rPr/>
              <a:t>✅ </a:t>
            </a:r>
            <a:r>
              <a:rPr b="1"/>
              <a:t>Concept unique</a:t>
            </a:r>
            <a:r>
              <a:rPr/>
              <a:t> : aucun concurrent direct sur le duel temps réel équitable</a:t>
            </a:r>
            <a:br/>
            <a:r>
              <a:rPr/>
              <a:t>✅ </a:t>
            </a:r>
            <a:r>
              <a:rPr b="1"/>
              <a:t>Marché prouvé</a:t>
            </a:r>
            <a:r>
              <a:rPr/>
              <a:t> : 100M+ utilisateurs apps running cherchent motivation</a:t>
            </a:r>
            <a:br/>
            <a:r>
              <a:rPr/>
              <a:t>✅ </a:t>
            </a:r>
            <a:r>
              <a:rPr b="1"/>
              <a:t>Différenciation forte</a:t>
            </a:r>
            <a:r>
              <a:rPr/>
              <a:t> : impossible pour Strava de pivoter vers notre modèle</a:t>
            </a:r>
            <a:br/>
            <a:r>
              <a:rPr/>
              <a:t>✅ </a:t>
            </a:r>
            <a:r>
              <a:rPr b="1"/>
              <a:t>Équipe motivée</a:t>
            </a:r>
            <a:r>
              <a:rPr/>
              <a:t> : passion pour le running + compétences tech</a:t>
            </a:r>
            <a:br/>
            <a:r>
              <a:rPr/>
              <a:t>✅ </a:t>
            </a:r>
            <a:r>
              <a:rPr b="1"/>
              <a:t>Roadmap claire</a:t>
            </a:r>
            <a:r>
              <a:rPr/>
              <a:t> : MVP en 6 mois, traction mesurable</a:t>
            </a:r>
          </a:p>
          <a:p>
            <a:pPr lvl="0" indent="0" marL="0">
              <a:buNone/>
            </a:pPr>
            <a:r>
              <a:rPr b="1"/>
              <a:t>Prochaines étapes :</a:t>
            </a:r>
            <a:r>
              <a:rPr/>
              <a:t> 1. Finaliser MVP (dev en cours) 2. Tester avec 50 beta-testeurs (running clubs Paris) 3. Lancement public dans 3 mois</a:t>
            </a:r>
          </a:p>
          <a:p>
            <a:pPr lvl="0" indent="0" marL="0">
              <a:buNone/>
            </a:pPr>
            <a:r>
              <a:rPr b="1"/>
              <a:t>Rejoignez-nous pour transformer le running en vraie compétition.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Slide 20 - Phrase finale</a:t>
            </a:r>
          </a:p>
        </p:txBody>
      </p:sp>
      <p:sp>
        <p:nvSpPr>
          <p:cNvPr id="3" name="Content Placeholder 2"/>
          <p:cNvSpPr>
            <a:spLocks noGrp="1"/>
          </p:cNvSpPr>
          <p:nvPr>
            <p:ph idx="1"/>
          </p:nvPr>
        </p:nvSpPr>
        <p:spPr/>
        <p:txBody>
          <a:bodyPr/>
          <a:lstStyle/>
          <a:p>
            <a:pPr lvl="0" indent="0" marL="0">
              <a:buNone/>
            </a:pPr>
            <a:r>
              <a:rPr b="1"/>
              <a:t>GeoRace</a:t>
            </a:r>
          </a:p>
          <a:p>
            <a:pPr lvl="0" indent="0" marL="1270000">
              <a:buNone/>
            </a:pPr>
            <a:r>
              <a:rPr sz="2000"/>
              <a:t>Chaque course est un duel.</a:t>
            </a:r>
            <a:br/>
            <a:r>
              <a:rPr sz="2000"/>
              <a:t>Chaque duel est une victoire ou une leçon.</a:t>
            </a:r>
            <a:br/>
            <a:r>
              <a:rPr sz="2000"/>
              <a:t>La motivation ne vient pas du tracking.</a:t>
            </a:r>
            <a:br/>
            <a:r>
              <a:rPr sz="2000"/>
              <a:t>Elle vient de la COMPÉTITION.</a:t>
            </a:r>
          </a:p>
          <a:p>
            <a:pPr lvl="0" indent="0" marL="0">
              <a:buNone/>
            </a:pPr>
            <a:r>
              <a:rPr b="1"/>
              <a:t>Êtes-vous prêt à courir pour GAGNER ?</a:t>
            </a:r>
          </a:p>
          <a:p>
            <a:pPr lvl="0" indent="0" marL="0">
              <a:buNone/>
            </a:pPr>
            <a:r>
              <a:rPr/>
              <a:t>🏁 </a:t>
            </a:r>
            <a:r>
              <a:rPr b="1"/>
              <a:t>GeoRace - Run. Race. Win.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TLX542</dc:creator>
  <cp:keywords/>
  <dcterms:created xsi:type="dcterms:W3CDTF">2026-02-10T13:18:14Z</dcterms:created>
  <dcterms:modified xsi:type="dcterms:W3CDTF">2026-02-10T13:18:14Z</dcterms:modified>
</cp:coreProperties>
</file>

<file path=docProps/custom.xml><?xml version="1.0" encoding="utf-8"?>
<Properties xmlns="http://schemas.openxmlformats.org/officeDocument/2006/custom-properties" xmlns:vt="http://schemas.openxmlformats.org/officeDocument/2006/docPropsVTypes"/>
</file>